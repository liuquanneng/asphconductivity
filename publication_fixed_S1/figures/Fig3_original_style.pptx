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  <p:sldMasterId id="2147483663" r:id="rId3"/>
  </p:sldMasterIdLst>
  <p:notesMasterIdLst>
    <p:notesMasterId r:id="rId9"/>
  </p:notesMasterIdLst>
  <p:sldIdLst>
    <p:sldId id="265" r:id="rId7"/>
  </p:sldIdLst>
  <p:sldSz cx="9805952" cy="6124366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uan neng" initials="qn" lastIdx="1" clrIdx="0">
    <p:extLst>
      <p:ext uri="{19B8F6BF-5375-455C-9EA6-DF929625EA0E}">
        <p15:presenceInfo xmlns:p15="http://schemas.microsoft.com/office/powerpoint/2012/main" userId="81075d40a9fbbb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E9A1"/>
    <a:srgbClr val="E8F3E9"/>
    <a:srgbClr val="6AC3CA"/>
    <a:srgbClr val="9A78D1"/>
    <a:srgbClr val="5E9CE1"/>
    <a:srgbClr val="FEF5F5"/>
    <a:srgbClr val="F8F8FD"/>
    <a:srgbClr val="F7FAFE"/>
    <a:srgbClr val="F0F6FE"/>
    <a:srgbClr val="FDE6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34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64" y="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691BF-B75B-4B47-A769-1BD0CFC12EB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7B12D3-3DE0-45B7-822C-30EAFAEE3F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02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997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1779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75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3026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184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2120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7457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362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155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190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901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91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229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7272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496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0.pn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组合 81">
            <a:extLst>
              <a:ext uri="{FF2B5EF4-FFF2-40B4-BE49-F238E27FC236}">
                <a16:creationId xmlns:a16="http://schemas.microsoft.com/office/drawing/2014/main" id="{3E1D74C7-A9C0-8AC2-4D28-98AC56091033}"/>
              </a:ext>
            </a:extLst>
          </p:cNvPr>
          <p:cNvGrpSpPr/>
          <p:nvPr/>
        </p:nvGrpSpPr>
        <p:grpSpPr>
          <a:xfrm>
            <a:off x="137160" y="137160"/>
            <a:ext cx="9531632" cy="5850046"/>
            <a:chOff x="1286254" y="832104"/>
            <a:chExt cx="9531632" cy="5850046"/>
          </a:xfrm>
        </p:grpSpPr>
        <p:cxnSp>
          <p:nvCxnSpPr>
            <p:cNvPr id="101" name="Connector 15">
              <a:extLst>
                <a:ext uri="{FF2B5EF4-FFF2-40B4-BE49-F238E27FC236}">
                  <a16:creationId xmlns:a16="http://schemas.microsoft.com/office/drawing/2014/main" id="{DC1CC4E9-C5A1-3519-01B8-88DCDAA1F46E}"/>
                </a:ext>
              </a:extLst>
            </p:cNvPr>
            <p:cNvCxnSpPr/>
            <p:nvPr/>
          </p:nvCxnSpPr>
          <p:spPr>
            <a:xfrm>
              <a:off x="8651299" y="914400"/>
              <a:ext cx="0" cy="5212080"/>
            </a:xfrm>
            <a:prstGeom prst="line">
              <a:avLst/>
            </a:prstGeom>
            <a:ln w="10160">
              <a:solidFill>
                <a:srgbClr val="D2D2D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/>
            <p:cNvSpPr/>
            <p:nvPr/>
          </p:nvSpPr>
          <p:spPr>
            <a:xfrm rot="20400000">
              <a:off x="2109729" y="910647"/>
              <a:ext cx="1035321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ctr" defTabSz="457200"/>
              <a:r>
                <a:rPr sz="1200" i="1" dirty="0">
                  <a:solidFill>
                    <a:srgbClr val="2C7339"/>
                  </a:solidFill>
                  <a:latin typeface="Times New Roman"/>
                </a:rPr>
                <a:t>Better
performance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2255520" y="914400"/>
              <a:ext cx="8363712" cy="5212080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2255519" y="914400"/>
              <a:ext cx="867155" cy="1303019"/>
            </a:xfrm>
            <a:prstGeom prst="rect">
              <a:avLst/>
            </a:prstGeom>
            <a:solidFill>
              <a:srgbClr val="E2F2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747503" y="914400"/>
              <a:ext cx="0" cy="5212080"/>
            </a:xfrm>
            <a:prstGeom prst="line">
              <a:avLst/>
            </a:prstGeom>
            <a:ln w="10160">
              <a:solidFill>
                <a:srgbClr val="D2D2D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/>
            <p:cNvSpPr/>
            <p:nvPr/>
          </p:nvSpPr>
          <p:spPr>
            <a:xfrm>
              <a:off x="2548848" y="6177158"/>
              <a:ext cx="397309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ctr" defTabSz="457200"/>
              <a:r>
                <a:rPr dirty="0">
                  <a:solidFill>
                    <a:srgbClr val="000000"/>
                  </a:solidFill>
                  <a:latin typeface="Times New Roman"/>
                </a:rPr>
                <a:t>0.8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3731469" y="914400"/>
              <a:ext cx="0" cy="5212080"/>
            </a:xfrm>
            <a:prstGeom prst="line">
              <a:avLst/>
            </a:prstGeom>
            <a:ln w="10160">
              <a:solidFill>
                <a:srgbClr val="D2D2D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3532814" y="6177158"/>
              <a:ext cx="397309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ctr" defTabSz="457200"/>
              <a:r>
                <a:rPr>
                  <a:solidFill>
                    <a:srgbClr val="000000"/>
                  </a:solidFill>
                  <a:latin typeface="Times New Roman"/>
                </a:rPr>
                <a:t>0.9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4715435" y="914400"/>
              <a:ext cx="0" cy="5212080"/>
            </a:xfrm>
            <a:prstGeom prst="line">
              <a:avLst/>
            </a:prstGeom>
            <a:ln w="10160">
              <a:solidFill>
                <a:srgbClr val="D2D2D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4516780" y="6177158"/>
              <a:ext cx="397309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ctr" defTabSz="457200"/>
              <a:r>
                <a:rPr>
                  <a:solidFill>
                    <a:srgbClr val="000000"/>
                  </a:solidFill>
                  <a:latin typeface="Times New Roman"/>
                </a:rPr>
                <a:t>1.0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5699401" y="914400"/>
              <a:ext cx="0" cy="5212080"/>
            </a:xfrm>
            <a:prstGeom prst="line">
              <a:avLst/>
            </a:prstGeom>
            <a:ln w="10160">
              <a:solidFill>
                <a:srgbClr val="D2D2D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5500746" y="6177158"/>
              <a:ext cx="397309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ctr" defTabSz="457200"/>
              <a:r>
                <a:rPr>
                  <a:solidFill>
                    <a:srgbClr val="000000"/>
                  </a:solidFill>
                  <a:latin typeface="Times New Roman"/>
                </a:rPr>
                <a:t>1.1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6683367" y="914400"/>
              <a:ext cx="0" cy="5212080"/>
            </a:xfrm>
            <a:prstGeom prst="line">
              <a:avLst/>
            </a:prstGeom>
            <a:ln w="10160">
              <a:solidFill>
                <a:srgbClr val="D2D2D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/>
            <p:cNvSpPr/>
            <p:nvPr/>
          </p:nvSpPr>
          <p:spPr>
            <a:xfrm>
              <a:off x="6484713" y="6177158"/>
              <a:ext cx="397309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ctr" defTabSz="457200"/>
              <a:r>
                <a:rPr>
                  <a:solidFill>
                    <a:srgbClr val="000000"/>
                  </a:solidFill>
                  <a:latin typeface="Times New Roman"/>
                </a:rPr>
                <a:t>1.2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7667333" y="914400"/>
              <a:ext cx="0" cy="5212080"/>
            </a:xfrm>
            <a:prstGeom prst="line">
              <a:avLst/>
            </a:prstGeom>
            <a:ln w="10160">
              <a:solidFill>
                <a:srgbClr val="D2D2D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7468679" y="6177158"/>
              <a:ext cx="397309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ctr" defTabSz="457200"/>
              <a:r>
                <a:rPr dirty="0">
                  <a:solidFill>
                    <a:srgbClr val="000000"/>
                  </a:solidFill>
                  <a:latin typeface="Times New Roman"/>
                </a:rPr>
                <a:t>1.3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752599" y="6044184"/>
              <a:ext cx="502920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r" defTabSz="457200"/>
              <a:r>
                <a:rPr>
                  <a:solidFill>
                    <a:srgbClr val="000000"/>
                  </a:solidFill>
                  <a:latin typeface="Times New Roman"/>
                </a:rPr>
                <a:t>0.35</a:t>
              </a:r>
            </a:p>
          </p:txBody>
        </p:sp>
        <p:cxnSp>
          <p:nvCxnSpPr>
            <p:cNvPr id="20" name="Connector 19"/>
            <p:cNvCxnSpPr>
              <a:cxnSpLocks/>
            </p:cNvCxnSpPr>
            <p:nvPr/>
          </p:nvCxnSpPr>
          <p:spPr>
            <a:xfrm>
              <a:off x="2255520" y="5474970"/>
              <a:ext cx="8363712" cy="0"/>
            </a:xfrm>
            <a:prstGeom prst="line">
              <a:avLst/>
            </a:prstGeom>
            <a:ln w="10160">
              <a:solidFill>
                <a:srgbClr val="D2D2D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1752599" y="5392674"/>
              <a:ext cx="502920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r" defTabSz="457200"/>
              <a:r>
                <a:rPr>
                  <a:solidFill>
                    <a:srgbClr val="000000"/>
                  </a:solidFill>
                  <a:latin typeface="Times New Roman"/>
                </a:rPr>
                <a:t>0.40</a:t>
              </a:r>
            </a:p>
          </p:txBody>
        </p:sp>
        <p:cxnSp>
          <p:nvCxnSpPr>
            <p:cNvPr id="22" name="Connector 21"/>
            <p:cNvCxnSpPr>
              <a:cxnSpLocks/>
            </p:cNvCxnSpPr>
            <p:nvPr/>
          </p:nvCxnSpPr>
          <p:spPr>
            <a:xfrm>
              <a:off x="2255520" y="4823459"/>
              <a:ext cx="8363712" cy="0"/>
            </a:xfrm>
            <a:prstGeom prst="line">
              <a:avLst/>
            </a:prstGeom>
            <a:ln w="10160">
              <a:solidFill>
                <a:srgbClr val="D2D2D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1752599" y="4741164"/>
              <a:ext cx="502920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r" defTabSz="457200"/>
              <a:r>
                <a:rPr>
                  <a:solidFill>
                    <a:srgbClr val="000000"/>
                  </a:solidFill>
                  <a:latin typeface="Times New Roman"/>
                </a:rPr>
                <a:t>0.45</a:t>
              </a:r>
            </a:p>
          </p:txBody>
        </p:sp>
        <p:cxnSp>
          <p:nvCxnSpPr>
            <p:cNvPr id="24" name="Connector 23"/>
            <p:cNvCxnSpPr>
              <a:cxnSpLocks/>
            </p:cNvCxnSpPr>
            <p:nvPr/>
          </p:nvCxnSpPr>
          <p:spPr>
            <a:xfrm>
              <a:off x="2255520" y="4171950"/>
              <a:ext cx="8363712" cy="0"/>
            </a:xfrm>
            <a:prstGeom prst="line">
              <a:avLst/>
            </a:prstGeom>
            <a:ln w="10160">
              <a:solidFill>
                <a:srgbClr val="D2D2D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1752599" y="4089654"/>
              <a:ext cx="502920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r" defTabSz="457200"/>
              <a:r>
                <a:rPr>
                  <a:solidFill>
                    <a:srgbClr val="000000"/>
                  </a:solidFill>
                  <a:latin typeface="Times New Roman"/>
                </a:rPr>
                <a:t>0.50</a:t>
              </a:r>
            </a:p>
          </p:txBody>
        </p:sp>
        <p:cxnSp>
          <p:nvCxnSpPr>
            <p:cNvPr id="26" name="Connector 25"/>
            <p:cNvCxnSpPr>
              <a:cxnSpLocks/>
            </p:cNvCxnSpPr>
            <p:nvPr/>
          </p:nvCxnSpPr>
          <p:spPr>
            <a:xfrm>
              <a:off x="2255520" y="3520439"/>
              <a:ext cx="8363712" cy="0"/>
            </a:xfrm>
            <a:prstGeom prst="line">
              <a:avLst/>
            </a:prstGeom>
            <a:ln w="10160">
              <a:solidFill>
                <a:srgbClr val="D2D2D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1752599" y="3438144"/>
              <a:ext cx="502920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r" defTabSz="457200"/>
              <a:r>
                <a:rPr>
                  <a:solidFill>
                    <a:srgbClr val="000000"/>
                  </a:solidFill>
                  <a:latin typeface="Times New Roman"/>
                </a:rPr>
                <a:t>0.55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752599" y="832104"/>
              <a:ext cx="502920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r" defTabSz="457200"/>
              <a:r>
                <a:rPr dirty="0">
                  <a:solidFill>
                    <a:srgbClr val="000000"/>
                  </a:solidFill>
                  <a:latin typeface="Times New Roman"/>
                </a:rPr>
                <a:t>0.75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930954" y="6426118"/>
              <a:ext cx="3002280" cy="2560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ctr" defTabSz="457200"/>
              <a:r>
                <a:rPr sz="2000" dirty="0">
                  <a:solidFill>
                    <a:srgbClr val="000000"/>
                  </a:solidFill>
                  <a:latin typeface="Times New Roman"/>
                </a:rPr>
                <a:t>MAE (lower is better)</a:t>
              </a:r>
            </a:p>
          </p:txBody>
        </p:sp>
        <p:sp>
          <p:nvSpPr>
            <p:cNvPr id="31" name="Rectangle 30"/>
            <p:cNvSpPr/>
            <p:nvPr/>
          </p:nvSpPr>
          <p:spPr>
            <a:xfrm rot="16200000">
              <a:off x="128938" y="2801592"/>
              <a:ext cx="2726114" cy="41148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ctr" defTabSz="457200"/>
              <a:r>
                <a:rPr sz="2000" dirty="0">
                  <a:solidFill>
                    <a:srgbClr val="000000"/>
                  </a:solidFill>
                  <a:latin typeface="Times New Roman"/>
                </a:rPr>
                <a:t>R² (higher is better)</a:t>
              </a:r>
            </a:p>
          </p:txBody>
        </p:sp>
        <p:cxnSp>
          <p:nvCxnSpPr>
            <p:cNvPr id="360" name="R2_tick_0.60"/>
            <p:cNvCxnSpPr>
              <a:cxnSpLocks/>
            </p:cNvCxnSpPr>
            <p:nvPr/>
          </p:nvCxnSpPr>
          <p:spPr>
            <a:xfrm>
              <a:off x="2255520" y="2868930"/>
              <a:ext cx="8363712" cy="0"/>
            </a:xfrm>
            <a:prstGeom prst="line">
              <a:avLst/>
            </a:prstGeom>
            <a:ln w="10160">
              <a:solidFill>
                <a:srgbClr val="D2D2D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0" name="R2_tick_0.60"/>
            <p:cNvSpPr/>
            <p:nvPr/>
          </p:nvSpPr>
          <p:spPr>
            <a:xfrm>
              <a:off x="1752599" y="2786634"/>
              <a:ext cx="502920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r" defTabSz="457200"/>
              <a:r>
                <a:rPr>
                  <a:solidFill>
                    <a:srgbClr val="000000"/>
                  </a:solidFill>
                  <a:latin typeface="Times New Roman"/>
                </a:rPr>
                <a:t>0.60</a:t>
              </a:r>
            </a:p>
          </p:txBody>
        </p:sp>
        <p:cxnSp>
          <p:nvCxnSpPr>
            <p:cNvPr id="365" name="R2_tick_0.65"/>
            <p:cNvCxnSpPr>
              <a:cxnSpLocks/>
            </p:cNvCxnSpPr>
            <p:nvPr/>
          </p:nvCxnSpPr>
          <p:spPr>
            <a:xfrm>
              <a:off x="2255520" y="2217420"/>
              <a:ext cx="8363712" cy="0"/>
            </a:xfrm>
            <a:prstGeom prst="line">
              <a:avLst/>
            </a:prstGeom>
            <a:ln w="10160">
              <a:solidFill>
                <a:srgbClr val="D2D2D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5" name="R2_tick_0.65"/>
            <p:cNvSpPr/>
            <p:nvPr/>
          </p:nvSpPr>
          <p:spPr>
            <a:xfrm>
              <a:off x="1752599" y="2135124"/>
              <a:ext cx="502920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r" defTabSz="457200"/>
              <a:r>
                <a:rPr>
                  <a:solidFill>
                    <a:srgbClr val="000000"/>
                  </a:solidFill>
                  <a:latin typeface="Times New Roman"/>
                </a:rPr>
                <a:t>0.65</a:t>
              </a:r>
            </a:p>
          </p:txBody>
        </p:sp>
        <p:cxnSp>
          <p:nvCxnSpPr>
            <p:cNvPr id="370" name="R2_tick_0.70"/>
            <p:cNvCxnSpPr>
              <a:cxnSpLocks/>
            </p:cNvCxnSpPr>
            <p:nvPr/>
          </p:nvCxnSpPr>
          <p:spPr>
            <a:xfrm>
              <a:off x="2255520" y="1565910"/>
              <a:ext cx="8363712" cy="0"/>
            </a:xfrm>
            <a:prstGeom prst="line">
              <a:avLst/>
            </a:prstGeom>
            <a:ln w="10160">
              <a:solidFill>
                <a:srgbClr val="D2D2D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0" name="R2_tick_0.70"/>
            <p:cNvSpPr/>
            <p:nvPr/>
          </p:nvSpPr>
          <p:spPr>
            <a:xfrm>
              <a:off x="1752599" y="1483614"/>
              <a:ext cx="502920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r" defTabSz="457200"/>
              <a:r>
                <a:rPr>
                  <a:solidFill>
                    <a:srgbClr val="000000"/>
                  </a:solidFill>
                  <a:latin typeface="Times New Roman"/>
                </a:rPr>
                <a:t>0.70</a:t>
              </a:r>
            </a:p>
          </p:txBody>
        </p:sp>
        <p:sp>
          <p:nvSpPr>
            <p:cNvPr id="33" name="Oval 32"/>
            <p:cNvSpPr/>
            <p:nvPr/>
          </p:nvSpPr>
          <p:spPr>
            <a:xfrm>
              <a:off x="3183417" y="1726710"/>
              <a:ext cx="164592" cy="164592"/>
            </a:xfrm>
            <a:prstGeom prst="ellipse">
              <a:avLst/>
            </a:prstGeom>
            <a:solidFill>
              <a:srgbClr val="4285F4"/>
            </a:solidFill>
            <a:ln w="1524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4" name="Isosceles Triangle 33"/>
            <p:cNvSpPr/>
            <p:nvPr/>
          </p:nvSpPr>
          <p:spPr>
            <a:xfrm>
              <a:off x="7536468" y="5544657"/>
              <a:ext cx="182880" cy="182880"/>
            </a:xfrm>
            <a:prstGeom prst="triangle">
              <a:avLst/>
            </a:prstGeom>
            <a:solidFill>
              <a:srgbClr val="FF503C"/>
            </a:solidFill>
            <a:ln w="1524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5" name="Isosceles Triangle 34"/>
            <p:cNvSpPr/>
            <p:nvPr/>
          </p:nvSpPr>
          <p:spPr>
            <a:xfrm>
              <a:off x="6985471" y="5037904"/>
              <a:ext cx="182880" cy="182880"/>
            </a:xfrm>
            <a:prstGeom prst="triangle">
              <a:avLst/>
            </a:prstGeom>
            <a:solidFill>
              <a:srgbClr val="FF503C"/>
            </a:solidFill>
            <a:ln w="1524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6" name="Isosceles Triangle 35"/>
            <p:cNvSpPr/>
            <p:nvPr/>
          </p:nvSpPr>
          <p:spPr>
            <a:xfrm>
              <a:off x="5326153" y="3419403"/>
              <a:ext cx="182880" cy="182880"/>
            </a:xfrm>
            <a:prstGeom prst="triangle">
              <a:avLst/>
            </a:prstGeom>
            <a:solidFill>
              <a:srgbClr val="FF503C"/>
            </a:solidFill>
            <a:ln w="1524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7" name="Diamond 36"/>
            <p:cNvSpPr/>
            <p:nvPr/>
          </p:nvSpPr>
          <p:spPr>
            <a:xfrm>
              <a:off x="2759192" y="1299992"/>
              <a:ext cx="164592" cy="164592"/>
            </a:xfrm>
            <a:prstGeom prst="diamond">
              <a:avLst/>
            </a:prstGeom>
            <a:solidFill>
              <a:srgbClr val="7E38CC"/>
            </a:solidFill>
            <a:ln w="1524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8" name="Diamond 37"/>
            <p:cNvSpPr/>
            <p:nvPr/>
          </p:nvSpPr>
          <p:spPr>
            <a:xfrm>
              <a:off x="2877502" y="1446809"/>
              <a:ext cx="164592" cy="164592"/>
            </a:xfrm>
            <a:prstGeom prst="diamond">
              <a:avLst/>
            </a:prstGeom>
            <a:solidFill>
              <a:srgbClr val="7E38CC"/>
            </a:solidFill>
            <a:ln w="1524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9" name="5-Point Star 38"/>
            <p:cNvSpPr/>
            <p:nvPr/>
          </p:nvSpPr>
          <p:spPr>
            <a:xfrm>
              <a:off x="2661709" y="1163792"/>
              <a:ext cx="256032" cy="256032"/>
            </a:xfrm>
            <a:prstGeom prst="star5">
              <a:avLst/>
            </a:prstGeom>
            <a:solidFill>
              <a:srgbClr val="FFC107"/>
            </a:solidFill>
            <a:ln w="1524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520440" y="2221992"/>
              <a:ext cx="1386688" cy="30175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b="1" dirty="0">
                  <a:solidFill>
                    <a:srgbClr val="000000"/>
                  </a:solidFill>
                  <a:latin typeface="Times New Roman"/>
                </a:rPr>
                <a:t>Magpie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390891" y="2253996"/>
              <a:ext cx="184252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dirty="0">
                  <a:solidFill>
                    <a:srgbClr val="000000"/>
                  </a:solidFill>
                  <a:latin typeface="Times New Roman"/>
                </a:rPr>
                <a:t>(0.853, 0.681)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364992" y="1536192"/>
              <a:ext cx="1617803" cy="2286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b="1" dirty="0">
                  <a:solidFill>
                    <a:srgbClr val="000000"/>
                  </a:solidFill>
                  <a:latin typeface="Times New Roman"/>
                </a:rPr>
                <a:t>Magpie + An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802122" y="1568195"/>
              <a:ext cx="1700788" cy="201168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dirty="0">
                  <a:solidFill>
                    <a:srgbClr val="000000"/>
                  </a:solidFill>
                  <a:latin typeface="Times New Roman"/>
                </a:rPr>
                <a:t>(0.810, 0.714)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493008" y="1847088"/>
              <a:ext cx="1617803" cy="2286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b="1" dirty="0">
                  <a:solidFill>
                    <a:srgbClr val="000000"/>
                  </a:solidFill>
                  <a:latin typeface="Times New Roman"/>
                </a:rPr>
                <a:t>Magpie + Can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996129" y="1879092"/>
              <a:ext cx="1700788" cy="201168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dirty="0">
                  <a:solidFill>
                    <a:srgbClr val="000000"/>
                  </a:solidFill>
                  <a:latin typeface="Times New Roman"/>
                </a:rPr>
                <a:t>(0.822, 0.703)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705856" y="3401568"/>
              <a:ext cx="1155573" cy="2286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b="1">
                  <a:solidFill>
                    <a:srgbClr val="000000"/>
                  </a:solidFill>
                  <a:latin typeface="Times New Roman"/>
                </a:rPr>
                <a:t>An + Can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752278" y="3433572"/>
              <a:ext cx="1584792" cy="201168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dirty="0">
                  <a:solidFill>
                    <a:srgbClr val="000000"/>
                  </a:solidFill>
                  <a:latin typeface="Times New Roman"/>
                </a:rPr>
                <a:t>(1.071, 0.551)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315200" y="5020056"/>
              <a:ext cx="808901" cy="2286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b="1">
                  <a:solidFill>
                    <a:srgbClr val="000000"/>
                  </a:solidFill>
                  <a:latin typeface="Times New Roman"/>
                </a:rPr>
                <a:t>Can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833361" y="5052060"/>
              <a:ext cx="1840111" cy="201168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dirty="0">
                  <a:solidFill>
                    <a:srgbClr val="000000"/>
                  </a:solidFill>
                  <a:latin typeface="Times New Roman"/>
                </a:rPr>
                <a:t>(1.240, 0.427)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845552" y="5532120"/>
              <a:ext cx="462229" cy="22860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b="1" dirty="0">
                  <a:solidFill>
                    <a:srgbClr val="000000"/>
                  </a:solidFill>
                  <a:latin typeface="Times New Roman"/>
                </a:rPr>
                <a:t>An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8248873" y="5564124"/>
              <a:ext cx="1814108" cy="201168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dirty="0">
                  <a:solidFill>
                    <a:srgbClr val="000000"/>
                  </a:solidFill>
                  <a:latin typeface="Times New Roman"/>
                </a:rPr>
                <a:t>(1.296, 0.388)</a:t>
              </a:r>
            </a:p>
          </p:txBody>
        </p:sp>
        <p:cxnSp>
          <p:nvCxnSpPr>
            <p:cNvPr id="54" name="Connector 53"/>
            <p:cNvCxnSpPr>
              <a:cxnSpLocks/>
            </p:cNvCxnSpPr>
            <p:nvPr/>
          </p:nvCxnSpPr>
          <p:spPr>
            <a:xfrm flipH="1" flipV="1">
              <a:off x="2606845" y="1401536"/>
              <a:ext cx="512563" cy="389181"/>
            </a:xfrm>
            <a:prstGeom prst="line">
              <a:avLst/>
            </a:prstGeom>
            <a:ln w="21031">
              <a:solidFill>
                <a:srgbClr val="3D4A5E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ounded Rectangle 54"/>
            <p:cNvSpPr/>
            <p:nvPr/>
          </p:nvSpPr>
          <p:spPr>
            <a:xfrm>
              <a:off x="2331720" y="2432304"/>
              <a:ext cx="912577" cy="470940"/>
            </a:xfrm>
            <a:prstGeom prst="roundRect">
              <a:avLst/>
            </a:prstGeom>
            <a:solidFill>
              <a:srgbClr val="FFF7CC"/>
            </a:solidFill>
            <a:ln w="19050">
              <a:solidFill>
                <a:srgbClr val="D7AA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" tIns="25400" rIns="3600" bIns="25400" rtlCol="0" anchor="ctr"/>
            <a:lstStyle/>
            <a:p>
              <a:pPr algn="ctr" defTabSz="457200"/>
              <a:r>
                <a:rPr sz="1200" b="1" dirty="0">
                  <a:solidFill>
                    <a:srgbClr val="FF0000"/>
                  </a:solidFill>
                  <a:latin typeface="Times New Roman"/>
                </a:rPr>
                <a:t>MAE ↓5.7%</a:t>
              </a:r>
            </a:p>
            <a:p>
              <a:r>
                <a:rPr sz="1200" b="1" dirty="0">
                  <a:solidFill>
                    <a:srgbClr val="FF0000"/>
                  </a:solidFill>
                  <a:latin typeface="Times New Roman"/>
                </a:rPr>
                <a:t>R² ↑5.8%</a:t>
              </a:r>
            </a:p>
          </p:txBody>
        </p:sp>
        <p:cxnSp>
          <p:nvCxnSpPr>
            <p:cNvPr id="69" name="Connector 68"/>
            <p:cNvCxnSpPr/>
            <p:nvPr/>
          </p:nvCxnSpPr>
          <p:spPr>
            <a:xfrm flipV="1">
              <a:off x="2456688" y="5138928"/>
              <a:ext cx="0" cy="457200"/>
            </a:xfrm>
            <a:prstGeom prst="line">
              <a:avLst/>
            </a:prstGeom>
            <a:ln w="22860">
              <a:solidFill>
                <a:srgbClr val="646464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69"/>
            <p:cNvSpPr/>
            <p:nvPr/>
          </p:nvSpPr>
          <p:spPr>
            <a:xfrm>
              <a:off x="2548128" y="5174554"/>
              <a:ext cx="1067951" cy="402333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sz="1400" i="1" dirty="0">
                  <a:solidFill>
                    <a:srgbClr val="000000"/>
                  </a:solidFill>
                  <a:latin typeface="Times New Roman"/>
                </a:rPr>
                <a:t>Higher R²
(better)</a:t>
              </a:r>
            </a:p>
          </p:txBody>
        </p:sp>
        <p:cxnSp>
          <p:nvCxnSpPr>
            <p:cNvPr id="71" name="Connector 70"/>
            <p:cNvCxnSpPr/>
            <p:nvPr/>
          </p:nvCxnSpPr>
          <p:spPr>
            <a:xfrm>
              <a:off x="2484120" y="5788152"/>
              <a:ext cx="640080" cy="0"/>
            </a:xfrm>
            <a:prstGeom prst="line">
              <a:avLst/>
            </a:prstGeom>
            <a:ln w="22860">
              <a:solidFill>
                <a:srgbClr val="646464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71"/>
            <p:cNvSpPr/>
            <p:nvPr/>
          </p:nvSpPr>
          <p:spPr>
            <a:xfrm>
              <a:off x="3135630" y="5626488"/>
              <a:ext cx="1005269" cy="34119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>
                <a:lnSpc>
                  <a:spcPts val="1440"/>
                </a:lnSpc>
              </a:pPr>
              <a:r>
                <a:rPr sz="1400" i="1" dirty="0">
                  <a:solidFill>
                    <a:srgbClr val="000000"/>
                  </a:solidFill>
                  <a:latin typeface="Times New Roman"/>
                </a:rPr>
                <a:t>Lower MAE (better)</a:t>
              </a:r>
            </a:p>
          </p:txBody>
        </p:sp>
        <p:cxnSp>
          <p:nvCxnSpPr>
            <p:cNvPr id="102" name="Connector 15">
              <a:extLst>
                <a:ext uri="{FF2B5EF4-FFF2-40B4-BE49-F238E27FC236}">
                  <a16:creationId xmlns:a16="http://schemas.microsoft.com/office/drawing/2014/main" id="{130DE04A-0400-C35B-4816-A16750540C3B}"/>
                </a:ext>
              </a:extLst>
            </p:cNvPr>
            <p:cNvCxnSpPr/>
            <p:nvPr/>
          </p:nvCxnSpPr>
          <p:spPr>
            <a:xfrm>
              <a:off x="9635265" y="917060"/>
              <a:ext cx="0" cy="5212080"/>
            </a:xfrm>
            <a:prstGeom prst="line">
              <a:avLst/>
            </a:prstGeom>
            <a:ln w="10160">
              <a:solidFill>
                <a:srgbClr val="D2D2D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/>
            <p:cNvSpPr/>
            <p:nvPr/>
          </p:nvSpPr>
          <p:spPr>
            <a:xfrm>
              <a:off x="7392920" y="1004195"/>
              <a:ext cx="3034283" cy="2075687"/>
            </a:xfrm>
            <a:prstGeom prst="rect">
              <a:avLst/>
            </a:prstGeom>
            <a:solidFill>
              <a:srgbClr val="FAFAFA"/>
            </a:solidFill>
            <a:ln w="15240">
              <a:solidFill>
                <a:srgbClr val="646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7" name="Oval 56"/>
            <p:cNvSpPr/>
            <p:nvPr/>
          </p:nvSpPr>
          <p:spPr>
            <a:xfrm>
              <a:off x="7557513" y="1196220"/>
              <a:ext cx="164592" cy="164592"/>
            </a:xfrm>
            <a:prstGeom prst="ellipse">
              <a:avLst/>
            </a:prstGeom>
            <a:solidFill>
              <a:srgbClr val="4285F4"/>
            </a:solidFill>
            <a:ln w="1524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822689" y="1168788"/>
              <a:ext cx="242316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sz="1600" dirty="0">
                  <a:solidFill>
                    <a:srgbClr val="000000"/>
                  </a:solidFill>
                  <a:latin typeface="Times New Roman"/>
                </a:rPr>
                <a:t>This work – baseline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822689" y="1364247"/>
              <a:ext cx="2377440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sz="1400" i="1" dirty="0">
                  <a:solidFill>
                    <a:srgbClr val="000000"/>
                  </a:solidFill>
                  <a:latin typeface="Times New Roman"/>
                </a:rPr>
                <a:t>Magpie (CatBoost)</a:t>
              </a:r>
            </a:p>
          </p:txBody>
        </p:sp>
        <p:sp>
          <p:nvSpPr>
            <p:cNvPr id="60" name="Isosceles Triangle 59"/>
            <p:cNvSpPr/>
            <p:nvPr/>
          </p:nvSpPr>
          <p:spPr>
            <a:xfrm>
              <a:off x="7548369" y="1644276"/>
              <a:ext cx="182880" cy="182880"/>
            </a:xfrm>
            <a:prstGeom prst="triangle">
              <a:avLst/>
            </a:prstGeom>
            <a:solidFill>
              <a:srgbClr val="FF503C"/>
            </a:solidFill>
            <a:ln w="1524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7822689" y="1625988"/>
              <a:ext cx="1947672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sz="1600" dirty="0">
                  <a:solidFill>
                    <a:srgbClr val="000000"/>
                  </a:solidFill>
                  <a:latin typeface="Times New Roman"/>
                </a:rPr>
                <a:t>This work – topology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822689" y="1804549"/>
              <a:ext cx="1691640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sz="1400" i="1" dirty="0">
                  <a:solidFill>
                    <a:srgbClr val="000000"/>
                  </a:solidFill>
                  <a:latin typeface="Times New Roman"/>
                </a:rPr>
                <a:t>An, Can, An</a:t>
              </a:r>
              <a:r>
                <a:rPr lang="en-US" sz="1400" i="1" dirty="0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sz="1400" i="1" dirty="0">
                  <a:solidFill>
                    <a:srgbClr val="000000"/>
                  </a:solidFill>
                  <a:latin typeface="Times New Roman"/>
                </a:rPr>
                <a:t>+</a:t>
              </a:r>
              <a:r>
                <a:rPr lang="en-US" sz="1400" i="1" dirty="0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sz="1400" i="1" dirty="0">
                  <a:solidFill>
                    <a:srgbClr val="000000"/>
                  </a:solidFill>
                  <a:latin typeface="Times New Roman"/>
                </a:rPr>
                <a:t>Can</a:t>
              </a:r>
            </a:p>
          </p:txBody>
        </p:sp>
        <p:sp>
          <p:nvSpPr>
            <p:cNvPr id="63" name="Diamond 62"/>
            <p:cNvSpPr/>
            <p:nvPr/>
          </p:nvSpPr>
          <p:spPr>
            <a:xfrm>
              <a:off x="7557513" y="2110620"/>
              <a:ext cx="164592" cy="164592"/>
            </a:xfrm>
            <a:prstGeom prst="diamond">
              <a:avLst/>
            </a:prstGeom>
            <a:solidFill>
              <a:srgbClr val="7E38CC"/>
            </a:solidFill>
            <a:ln w="1524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822689" y="2083188"/>
              <a:ext cx="1907032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sz="1600" dirty="0">
                  <a:solidFill>
                    <a:srgbClr val="000000"/>
                  </a:solidFill>
                  <a:latin typeface="Times New Roman"/>
                </a:rPr>
                <a:t>This work – hybrid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7822689" y="2272672"/>
              <a:ext cx="2382777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lang="en-US" sz="1400" i="1" dirty="0">
                  <a:solidFill>
                    <a:srgbClr val="000000"/>
                  </a:solidFill>
                  <a:latin typeface="Times New Roman"/>
                </a:rPr>
                <a:t>Magpie </a:t>
              </a:r>
              <a:r>
                <a:rPr sz="1400" i="1" dirty="0">
                  <a:solidFill>
                    <a:srgbClr val="000000"/>
                  </a:solidFill>
                  <a:latin typeface="Times New Roman"/>
                </a:rPr>
                <a:t>+</a:t>
              </a:r>
              <a:r>
                <a:rPr lang="en-US" sz="1400" i="1" dirty="0">
                  <a:solidFill>
                    <a:srgbClr val="000000"/>
                  </a:solidFill>
                  <a:latin typeface="Times New Roman"/>
                </a:rPr>
                <a:t> A</a:t>
              </a:r>
              <a:r>
                <a:rPr sz="1400" i="1" dirty="0">
                  <a:solidFill>
                    <a:srgbClr val="000000"/>
                  </a:solidFill>
                  <a:latin typeface="Times New Roman"/>
                </a:rPr>
                <a:t>n,</a:t>
              </a:r>
              <a:r>
                <a:rPr lang="zh-CN" altLang="en-US" sz="1400" i="1" dirty="0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sz="1400" i="1" dirty="0">
                  <a:solidFill>
                    <a:srgbClr val="000000"/>
                  </a:solidFill>
                  <a:latin typeface="Times New Roman"/>
                </a:rPr>
                <a:t>Magpie</a:t>
              </a:r>
              <a:r>
                <a:rPr lang="en-US" sz="1400" i="1" dirty="0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sz="1400" i="1" dirty="0">
                  <a:solidFill>
                    <a:srgbClr val="000000"/>
                  </a:solidFill>
                  <a:latin typeface="Times New Roman"/>
                </a:rPr>
                <a:t>+</a:t>
              </a:r>
              <a:r>
                <a:rPr lang="en-US" sz="1400" i="1" dirty="0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sz="1400" i="1" dirty="0">
                  <a:solidFill>
                    <a:srgbClr val="000000"/>
                  </a:solidFill>
                  <a:latin typeface="Times New Roman"/>
                </a:rPr>
                <a:t>Can</a:t>
              </a:r>
            </a:p>
          </p:txBody>
        </p:sp>
        <p:sp>
          <p:nvSpPr>
            <p:cNvPr id="66" name="5-Point Star 65"/>
            <p:cNvSpPr/>
            <p:nvPr/>
          </p:nvSpPr>
          <p:spPr>
            <a:xfrm>
              <a:off x="7511793" y="2522100"/>
              <a:ext cx="256032" cy="256032"/>
            </a:xfrm>
            <a:prstGeom prst="star5">
              <a:avLst/>
            </a:prstGeom>
            <a:solidFill>
              <a:srgbClr val="FFC107"/>
            </a:solidFill>
            <a:ln w="1524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7822688" y="2552813"/>
              <a:ext cx="2604516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sz="1600" b="1" dirty="0">
                  <a:solidFill>
                    <a:srgbClr val="000000"/>
                  </a:solidFill>
                  <a:latin typeface="Times New Roman"/>
                </a:rPr>
                <a:t>This work – proposed model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7822689" y="2756796"/>
              <a:ext cx="1691640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defTabSz="457200"/>
              <a:r>
                <a:rPr sz="1400" i="1" dirty="0">
                  <a:solidFill>
                    <a:srgbClr val="000000"/>
                  </a:solidFill>
                  <a:latin typeface="Times New Roman"/>
                </a:rPr>
                <a:t>Magpie + An + Can</a:t>
              </a: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1CCFEBC8-00C6-B7DB-28B2-25B49CACD1D5}"/>
                </a:ext>
              </a:extLst>
            </p:cNvPr>
            <p:cNvSpPr/>
            <p:nvPr/>
          </p:nvSpPr>
          <p:spPr>
            <a:xfrm>
              <a:off x="8452645" y="6177158"/>
              <a:ext cx="397309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ctr" defTabSz="457200"/>
              <a:r>
                <a:rPr dirty="0">
                  <a:solidFill>
                    <a:srgbClr val="000000"/>
                  </a:solidFill>
                  <a:latin typeface="Times New Roman"/>
                </a:rPr>
                <a:t>1.4</a:t>
              </a:r>
              <a:endParaRPr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28" name="Rectangle 16">
              <a:extLst>
                <a:ext uri="{FF2B5EF4-FFF2-40B4-BE49-F238E27FC236}">
                  <a16:creationId xmlns:a16="http://schemas.microsoft.com/office/drawing/2014/main" id="{01266BB2-77D2-B5B5-9961-C4B4D99A2E32}"/>
                </a:ext>
              </a:extLst>
            </p:cNvPr>
            <p:cNvSpPr/>
            <p:nvPr/>
          </p:nvSpPr>
          <p:spPr>
            <a:xfrm>
              <a:off x="9436611" y="6182454"/>
              <a:ext cx="397309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ctr" defTabSz="457200"/>
              <a:r>
                <a:rPr dirty="0">
                  <a:solidFill>
                    <a:srgbClr val="000000"/>
                  </a:solidFill>
                  <a:latin typeface="Times New Roman"/>
                </a:rPr>
                <a:t>1.5</a:t>
              </a:r>
              <a:endParaRPr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73" name="Rectangle 16">
              <a:extLst>
                <a:ext uri="{FF2B5EF4-FFF2-40B4-BE49-F238E27FC236}">
                  <a16:creationId xmlns:a16="http://schemas.microsoft.com/office/drawing/2014/main" id="{D2410A05-81B6-60FE-0BFB-EFAD0B6C5114}"/>
                </a:ext>
              </a:extLst>
            </p:cNvPr>
            <p:cNvSpPr/>
            <p:nvPr/>
          </p:nvSpPr>
          <p:spPr>
            <a:xfrm>
              <a:off x="10420577" y="6177158"/>
              <a:ext cx="397309" cy="16459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ctr" defTabSz="457200"/>
              <a:r>
                <a:rPr dirty="0">
                  <a:solidFill>
                    <a:srgbClr val="000000"/>
                  </a:solidFill>
                  <a:latin typeface="Times New Roman"/>
                </a:rPr>
                <a:t>1.6</a:t>
              </a:r>
              <a:endParaRPr dirty="0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78" name="Rounded Rectangle 51">
              <a:extLst>
                <a:ext uri="{FF2B5EF4-FFF2-40B4-BE49-F238E27FC236}">
                  <a16:creationId xmlns:a16="http://schemas.microsoft.com/office/drawing/2014/main" id="{2E90FC66-1DBE-4AC7-420D-F3554D4FC15B}"/>
                </a:ext>
              </a:extLst>
            </p:cNvPr>
            <p:cNvSpPr/>
            <p:nvPr/>
          </p:nvSpPr>
          <p:spPr>
            <a:xfrm>
              <a:off x="3080769" y="995139"/>
              <a:ext cx="2912363" cy="470055"/>
            </a:xfrm>
            <a:prstGeom prst="roundRect">
              <a:avLst/>
            </a:prstGeom>
            <a:solidFill>
              <a:srgbClr val="FFF7CC"/>
            </a:solidFill>
            <a:ln w="19050">
              <a:solidFill>
                <a:srgbClr val="D7AA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25400" rIns="50800" bIns="25400" rtlCol="0" anchor="ctr"/>
            <a:lstStyle/>
            <a:p>
              <a:pPr algn="ctr" defTabSz="457200">
                <a:lnSpc>
                  <a:spcPts val="1400"/>
                </a:lnSpc>
              </a:pPr>
              <a:r>
                <a:rPr sz="1600" b="1" dirty="0">
                  <a:solidFill>
                    <a:srgbClr val="000000"/>
                  </a:solidFill>
                  <a:latin typeface="Times New Roman"/>
                </a:rPr>
                <a:t>Proposed method in this work</a:t>
              </a:r>
            </a:p>
            <a:p>
              <a:pPr algn="ctr" defTabSz="457200">
                <a:lnSpc>
                  <a:spcPts val="1400"/>
                </a:lnSpc>
              </a:pPr>
              <a:r>
                <a:rPr sz="1500" dirty="0">
                  <a:solidFill>
                    <a:srgbClr val="000000"/>
                  </a:solidFill>
                  <a:latin typeface="Times New Roman"/>
                </a:rPr>
                <a:t>Magpie + An + Can</a:t>
              </a:r>
              <a:r>
                <a:rPr lang="en-US" sz="1500" dirty="0">
                  <a:solidFill>
                    <a:srgbClr val="000000"/>
                  </a:solidFill>
                  <a:latin typeface="Times New Roman"/>
                </a:rPr>
                <a:t>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/>
                </a:rPr>
                <a:t>(0.804, 0.721)</a:t>
              </a:r>
            </a:p>
          </p:txBody>
        </p:sp>
        <p:cxnSp>
          <p:nvCxnSpPr>
            <p:cNvPr id="79" name="Connector 52">
              <a:extLst>
                <a:ext uri="{FF2B5EF4-FFF2-40B4-BE49-F238E27FC236}">
                  <a16:creationId xmlns:a16="http://schemas.microsoft.com/office/drawing/2014/main" id="{F6E2DA20-FA2E-E5DF-4895-5F3EA0BF98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8597" y="1229868"/>
              <a:ext cx="172016" cy="48224"/>
            </a:xfrm>
            <a:prstGeom prst="line">
              <a:avLst/>
            </a:prstGeom>
            <a:ln w="22860">
              <a:solidFill>
                <a:srgbClr val="AF7C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Connector 470"/>
            <p:cNvCxnSpPr/>
            <p:nvPr/>
          </p:nvCxnSpPr>
          <p:spPr>
            <a:xfrm>
              <a:off x="2942072" y="1414292"/>
              <a:ext cx="395488" cy="231628"/>
            </a:xfrm>
            <a:prstGeom prst="line">
              <a:avLst/>
            </a:prstGeom>
            <a:ln w="8255">
              <a:solidFill>
                <a:srgbClr val="78787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Connector 471"/>
            <p:cNvCxnSpPr/>
            <p:nvPr/>
          </p:nvCxnSpPr>
          <p:spPr>
            <a:xfrm>
              <a:off x="3060382" y="1561109"/>
              <a:ext cx="396050" cy="404851"/>
            </a:xfrm>
            <a:prstGeom prst="line">
              <a:avLst/>
            </a:prstGeom>
            <a:ln w="8255">
              <a:solidFill>
                <a:srgbClr val="78787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Connector 472"/>
            <p:cNvCxnSpPr/>
            <p:nvPr/>
          </p:nvCxnSpPr>
          <p:spPr>
            <a:xfrm>
              <a:off x="3366297" y="1841010"/>
              <a:ext cx="108423" cy="490710"/>
            </a:xfrm>
            <a:prstGeom prst="line">
              <a:avLst/>
            </a:prstGeom>
            <a:ln w="8255">
              <a:solidFill>
                <a:srgbClr val="78787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1697</TotalTime>
  <Words>677</Words>
  <Application>Microsoft Office PowerPoint</Application>
  <PresentationFormat>宽屏</PresentationFormat>
  <Paragraphs>246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等线</vt:lpstr>
      <vt:lpstr>微软雅黑</vt:lpstr>
      <vt:lpstr>Aptos</vt:lpstr>
      <vt:lpstr>Arial</vt:lpstr>
      <vt:lpstr>Calibri</vt:lpstr>
      <vt:lpstr>Times New Roman</vt:lpstr>
      <vt:lpstr>WPS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quan neng</dc:creator>
  <cp:lastModifiedBy>quan neng</cp:lastModifiedBy>
  <cp:revision>947</cp:revision>
  <dcterms:created xsi:type="dcterms:W3CDTF">2023-08-09T12:44:00Z</dcterms:created>
  <dcterms:modified xsi:type="dcterms:W3CDTF">2026-10-14T15:13:52Z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